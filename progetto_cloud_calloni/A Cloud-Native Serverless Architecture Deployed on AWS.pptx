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35" d="100"/>
          <a:sy n="35" d="100"/>
        </p:scale>
        <p:origin x="78" y="18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D28F17-F219-7B64-1D90-2AFD597F2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D28C744-39C9-623E-743B-E23C223B7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50C97FE-9B51-06F6-5A44-EDA8E1A8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B0EF7-D91B-4C81-BF97-067F268B75DA}" type="datetimeFigureOut">
              <a:rPr lang="it-IT" smtClean="0"/>
              <a:t>09/03/2026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29A7C7-B3B2-A954-754C-50DF154F7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FDBB50B-5D26-4956-0C2F-13AD7181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7326E-9C08-46AA-BE33-9F6E1274C85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625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A86D97-37C2-CD94-D25E-EC3BDC7C3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6D4BE8D-E85A-3C1E-9BCE-6864E815D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5DF37DC-4AEB-2F5D-54C7-5D90EFE9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B0EF7-D91B-4C81-BF97-067F268B75DA}" type="datetimeFigureOut">
              <a:rPr lang="it-IT" smtClean="0"/>
              <a:t>09/03/2026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6DE666-868D-8607-3877-0F03F5ECA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D987DB-13AB-16A9-5C20-55217459C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7326E-9C08-46AA-BE33-9F6E1274C85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7453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B1361E-3CBA-EB43-5B86-250FB2508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EA441C0-E3FD-217A-A116-F21191182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8E010B7-1A90-1FB5-0028-A149F88E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B0EF7-D91B-4C81-BF97-067F268B75DA}" type="datetimeFigureOut">
              <a:rPr lang="it-IT" smtClean="0"/>
              <a:t>09/03/2026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B578B9-EAD7-43BE-957D-6D5BBE902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2EA9D3-AB6D-8FBA-3E55-C2C10D1BA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7326E-9C08-46AA-BE33-9F6E1274C85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3969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B8783E-AE6C-43F6-BB96-9467D6892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F32D3D-E740-D6DD-AFAF-F20B541B74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C508B0B-8815-B2A5-9856-37A58CCE7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72BBE05-4A76-9F78-ECEB-5F80E54B8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B0EF7-D91B-4C81-BF97-067F268B75DA}" type="datetimeFigureOut">
              <a:rPr lang="it-IT" smtClean="0"/>
              <a:t>09/03/2026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583346C-69D7-4CEB-E3AE-5841C521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718CD75-952F-05F1-3702-90B6E5EB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7326E-9C08-46AA-BE33-9F6E1274C85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4577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1558B0-605A-36B1-6FB4-B9D0900A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48E88D7-3415-5F19-8BBD-859ACADFC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8ED9327-1884-E92A-BC02-EBCC071E0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520ED18-7256-E768-8B81-F3B297575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C0DAD81-8A29-BDEF-919F-29BFA89649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BC9D7CA-D952-CF5D-3519-BE2A73A28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B0EF7-D91B-4C81-BF97-067F268B75DA}" type="datetimeFigureOut">
              <a:rPr lang="it-IT" smtClean="0"/>
              <a:t>09/03/2026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8593516-3D3A-62CD-8194-F8A7FD67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0997632-CC50-2E6A-EDCF-C2B21AF0D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7326E-9C08-46AA-BE33-9F6E1274C85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8384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D5B552-8D95-740F-8F36-97BDEE64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D1F24A9-E344-8180-B2AE-B04079B7D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B0EF7-D91B-4C81-BF97-067F268B75DA}" type="datetimeFigureOut">
              <a:rPr lang="it-IT" smtClean="0"/>
              <a:t>09/03/2026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996470B-D117-CDD1-5C11-D802371AA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D1D8753-6B6A-46C1-C537-CDEA2170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7326E-9C08-46AA-BE33-9F6E1274C85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3421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0AC0F08-1B71-B884-8310-D6E586C69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B0EF7-D91B-4C81-BF97-067F268B75DA}" type="datetimeFigureOut">
              <a:rPr lang="it-IT" smtClean="0"/>
              <a:t>09/03/2026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5F52872-5A19-B77C-04A2-296EC3894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33B90B2-A946-039D-5548-C9FCF921F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7326E-9C08-46AA-BE33-9F6E1274C85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8257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FCFD79-2134-C3C4-486C-7CD357456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883E622-3CED-A765-EE97-AA51138A2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B5C54CE-BA4A-7ADD-014C-3067E9799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2EFEAF5-B8E6-8548-2B98-B4AF1161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B0EF7-D91B-4C81-BF97-067F268B75DA}" type="datetimeFigureOut">
              <a:rPr lang="it-IT" smtClean="0"/>
              <a:t>09/03/2026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DB2180-7D9F-8753-BE42-CB5B7F0D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4B36BDB-BF69-D00F-C1FF-140215F31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7326E-9C08-46AA-BE33-9F6E1274C85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1192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5E6BFF-B0B9-49CA-522C-B05F383D3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2AC5524-354F-7C08-B319-7EF8CEF28E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34E0D16-DFA1-B69D-425F-40A2DEB43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03B31D7-0592-0201-6C36-8E9CF9C8B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B0EF7-D91B-4C81-BF97-067F268B75DA}" type="datetimeFigureOut">
              <a:rPr lang="it-IT" smtClean="0"/>
              <a:t>09/03/2026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60B529F-1CAD-C3B6-DC82-EBD9FBC6E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171F203-C6F8-9BC0-32FB-F243A53FF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7326E-9C08-46AA-BE33-9F6E1274C85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2343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0057F6-257C-2156-F666-AE8BF1D4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3610BFC-B758-292F-AEEC-DB31098C1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10DA8E8-43C2-29C3-C9C5-EB69E222D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B0EF7-D91B-4C81-BF97-067F268B75DA}" type="datetimeFigureOut">
              <a:rPr lang="it-IT" smtClean="0"/>
              <a:t>09/03/2026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7F6B86-607C-6F20-F480-B06DD5DD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12E8291-0F3C-96D0-A2D9-DA57C40BA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7326E-9C08-46AA-BE33-9F6E1274C85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7805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7A344AC-D68E-0753-2FA2-5CB59F116F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9D56931-59D9-191E-5732-2D1310E0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056172E-D5A3-FD24-B629-D1F2F22C4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B0EF7-D91B-4C81-BF97-067F268B75DA}" type="datetimeFigureOut">
              <a:rPr lang="it-IT" smtClean="0"/>
              <a:t>09/03/2026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CF9747C-118E-A421-1B92-303601090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412E860-F4CE-BFC4-ED25-A936FA80A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7326E-9C08-46AA-BE33-9F6E1274C85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663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D61391C-798F-B652-03FF-218AF3296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15072CD-1C19-9E1F-8231-4D5701081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5C6C37-26EE-83EB-7F35-74EC30A157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DB0EF7-D91B-4C81-BF97-067F268B75DA}" type="datetimeFigureOut">
              <a:rPr lang="it-IT" smtClean="0"/>
              <a:t>09/03/2026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5534B1-A951-85B6-E337-C38E2D796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733F34-EFF5-8C59-8554-53122D617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7326E-9C08-46AA-BE33-9F6E1274C85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661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8" name="Rectangle 1067">
            <a:extLst>
              <a:ext uri="{FF2B5EF4-FFF2-40B4-BE49-F238E27FC236}">
                <a16:creationId xmlns:a16="http://schemas.microsoft.com/office/drawing/2014/main" id="{8329E8A2-157C-4049-BCB2-7EF4A2F6F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1E00825-0F8D-B5A6-A536-07A903A8D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3526"/>
            <a:ext cx="6804610" cy="16586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 Cloud-Native Serverless Architecture Deployed on AWS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92E0FCF-8FF6-F1EC-DC20-8596FC385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415500"/>
            <a:ext cx="6804610" cy="369822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/>
              <a:t>Cloud Computing Technologies - Final Project</a:t>
            </a:r>
            <a:br>
              <a:rPr lang="en-US" sz="2000"/>
            </a:br>
            <a:br>
              <a:rPr lang="en-US" sz="2000"/>
            </a:br>
            <a:br>
              <a:rPr lang="en-US" sz="2000"/>
            </a:br>
            <a:endParaRPr lang="en-US" sz="2000"/>
          </a:p>
          <a:p>
            <a:pPr algn="l"/>
            <a:endParaRPr lang="en-US" sz="2000"/>
          </a:p>
          <a:p>
            <a:pPr algn="l"/>
            <a:endParaRPr lang="en-US" sz="2000"/>
          </a:p>
          <a:p>
            <a:pPr algn="l"/>
            <a:endParaRPr lang="en-US" sz="2000"/>
          </a:p>
          <a:p>
            <a:pPr algn="l"/>
            <a:endParaRPr lang="en-US" sz="2000"/>
          </a:p>
          <a:p>
            <a:pPr algn="l"/>
            <a:endParaRPr lang="en-US" sz="2000"/>
          </a:p>
          <a:p>
            <a:pPr algn="l"/>
            <a:r>
              <a:rPr lang="en-US" sz="2000"/>
              <a:t>Calloni Matteo - 77021A</a:t>
            </a:r>
            <a:endParaRPr lang="en-US" sz="2000" dirty="0"/>
          </a:p>
        </p:txBody>
      </p:sp>
      <p:pic>
        <p:nvPicPr>
          <p:cNvPr id="1026" name="Picture 2" descr="Università degli Studi di Milano - Wikipedia">
            <a:extLst>
              <a:ext uri="{FF2B5EF4-FFF2-40B4-BE49-F238E27FC236}">
                <a16:creationId xmlns:a16="http://schemas.microsoft.com/office/drawing/2014/main" id="{E7E91D87-D11E-0EE4-E33C-073819B90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510"/>
          <a:stretch>
            <a:fillRect/>
          </a:stretch>
        </p:blipFill>
        <p:spPr bwMode="auto">
          <a:xfrm>
            <a:off x="7992343" y="722571"/>
            <a:ext cx="3194003" cy="317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EF87E81-ABF7-C79F-DC60-5A8A9A6EE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8" r="2934" b="-5"/>
          <a:stretch>
            <a:fillRect/>
          </a:stretch>
        </p:blipFill>
        <p:spPr bwMode="auto">
          <a:xfrm>
            <a:off x="7992343" y="4065708"/>
            <a:ext cx="3194003" cy="2048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321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C52E104-2C60-2F8E-C22A-12A322C0D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it-IT" sz="5000"/>
              <a:t>Objectives &amp; Motivations</a:t>
            </a:r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D57D11-831E-BE84-EB4D-C15E11BDF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it-IT" sz="2200" b="1"/>
              <a:t>Shift from IaaS to FaaS:</a:t>
            </a:r>
            <a:r>
              <a:rPr lang="it-IT" sz="2200"/>
              <a:t> Eliminating server provisioning and management (NoOps approach).</a:t>
            </a:r>
          </a:p>
          <a:p>
            <a:r>
              <a:rPr lang="it-IT" sz="2200" b="1"/>
              <a:t>Cloudonomics:</a:t>
            </a:r>
            <a:r>
              <a:rPr lang="it-IT" sz="2200"/>
              <a:t> Validating the </a:t>
            </a:r>
            <a:r>
              <a:rPr lang="it-IT" sz="2200" i="1"/>
              <a:t>pay-per-use</a:t>
            </a:r>
            <a:r>
              <a:rPr lang="it-IT" sz="2200"/>
              <a:t> financial model (zero cost during idle times).</a:t>
            </a:r>
          </a:p>
          <a:p>
            <a:r>
              <a:rPr lang="it-IT" sz="2200" b="1"/>
              <a:t>Rapid Elasticity:</a:t>
            </a:r>
            <a:r>
              <a:rPr lang="it-IT" sz="2200"/>
              <a:t> Testing automatic horizontal scaling under sudden traffic spikes.</a:t>
            </a:r>
          </a:p>
          <a:p>
            <a:endParaRPr lang="it-IT" sz="22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D9ADC85-FFD8-85E1-2953-55DDFADF3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870109"/>
            <a:ext cx="5458968" cy="5117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884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65F2EC7-8487-0572-5EE3-C19961059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it-IT" dirty="0"/>
              <a:t> Event-</a:t>
            </a:r>
            <a:r>
              <a:rPr lang="it-IT" dirty="0" err="1"/>
              <a:t>Driven</a:t>
            </a:r>
            <a:r>
              <a:rPr lang="it-IT" dirty="0"/>
              <a:t> Pipeline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52DCE2C-2F80-7664-E47E-5D818A7F6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955" y="1109170"/>
            <a:ext cx="9875259" cy="1357847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7E9C8A-B716-D85A-DB72-3584FCE72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84452"/>
            <a:ext cx="5723021" cy="2398713"/>
          </a:xfrm>
        </p:spPr>
        <p:txBody>
          <a:bodyPr anchor="ctr">
            <a:normAutofit/>
          </a:bodyPr>
          <a:lstStyle/>
          <a:p>
            <a:r>
              <a:rPr lang="it-IT" sz="2000" b="1"/>
              <a:t>Ingestion:</a:t>
            </a:r>
            <a:r>
              <a:rPr lang="it-IT" sz="2000"/>
              <a:t> Amazon S3 acts as a Data Lake, generating trigger events upon file upload.</a:t>
            </a:r>
          </a:p>
          <a:p>
            <a:r>
              <a:rPr lang="it-IT" sz="2000" b="1"/>
              <a:t>Compute:</a:t>
            </a:r>
            <a:r>
              <a:rPr lang="it-IT" sz="2000"/>
              <a:t> AWS Lambda provides stateless, asynchronous processing.</a:t>
            </a:r>
          </a:p>
          <a:p>
            <a:r>
              <a:rPr lang="it-IT" sz="2000" b="1"/>
              <a:t>Persistence:</a:t>
            </a:r>
            <a:r>
              <a:rPr lang="it-IT" sz="2000"/>
              <a:t> Amazon DynamoDB stores structured metadata permanently.</a:t>
            </a:r>
          </a:p>
          <a:p>
            <a:endParaRPr lang="it-IT" sz="2000"/>
          </a:p>
        </p:txBody>
      </p:sp>
    </p:spTree>
    <p:extLst>
      <p:ext uri="{BB962C8B-B14F-4D97-AF65-F5344CB8AC3E}">
        <p14:creationId xmlns:p14="http://schemas.microsoft.com/office/powerpoint/2010/main" val="2396291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D0B9B9F-8C75-7DE5-8DEE-3D62D4F3F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it-IT" sz="3400"/>
              <a:t>Security &amp; Least Privilege Principle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4DA2AE-7C5C-5C39-FCBF-05D96E170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/>
              <a:t>No use of root credentials for the application layer.</a:t>
            </a:r>
          </a:p>
          <a:p>
            <a:r>
              <a:rPr lang="en-US" sz="1800" b="1"/>
              <a:t>Lambda Execution Role:</a:t>
            </a:r>
            <a:r>
              <a:rPr lang="en-US" sz="1800"/>
              <a:t> Strict permissions limited to S3 (Read) and DynamoDB (Write).</a:t>
            </a:r>
          </a:p>
          <a:p>
            <a:r>
              <a:rPr lang="en-US" sz="1800" b="1"/>
              <a:t>Client Inline Policy:</a:t>
            </a:r>
            <a:r>
              <a:rPr lang="en-US" sz="1800"/>
              <a:t> Exclusive s3:PutObject authorization restricted to the target bucket.</a:t>
            </a:r>
          </a:p>
          <a:p>
            <a:endParaRPr lang="it-IT" sz="180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B220E83-5370-0560-41D6-3C686D379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622750"/>
            <a:ext cx="6440424" cy="355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285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13ABCA0-9A31-4043-1044-8FD579D66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it-IT" sz="3400"/>
              <a:t>Performance Monitoring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B9BC25-5F88-8230-978A-F3E19C72B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/>
              <a:t>Deep integration with </a:t>
            </a:r>
            <a:r>
              <a:rPr lang="en-US" sz="1800" b="1"/>
              <a:t>Amazon CloudWatch</a:t>
            </a:r>
            <a:r>
              <a:rPr lang="en-US" sz="1800"/>
              <a:t>.</a:t>
            </a:r>
          </a:p>
          <a:p>
            <a:r>
              <a:rPr lang="en-US" sz="1800"/>
              <a:t>Separate Log Streams for each instantiated container.</a:t>
            </a:r>
          </a:p>
          <a:p>
            <a:r>
              <a:rPr lang="en-US" sz="1800"/>
              <a:t>Real-time metrics tracking: Total Invocations vs Concurrent Executions.</a:t>
            </a:r>
          </a:p>
          <a:p>
            <a:endParaRPr lang="it-IT" sz="180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78CCB48-03B2-3C43-5697-9FE221448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366262"/>
            <a:ext cx="6440424" cy="407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985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E343C5F-4A4C-E147-6A2D-B5D26586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US" sz="3200"/>
              <a:t>Massive Load Simulation (Live Demo)</a:t>
            </a:r>
            <a:endParaRPr lang="it-IT" sz="3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5F73F84-96FC-23EC-97D6-14C5FFC0D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r>
              <a:rPr lang="en-US" sz="1800" b="1"/>
              <a:t>Initial State:</a:t>
            </a:r>
            <a:r>
              <a:rPr lang="en-US" sz="1800"/>
              <a:t> System at rest (Zero active servers).</a:t>
            </a:r>
          </a:p>
          <a:p>
            <a:r>
              <a:rPr lang="en-US" sz="1800" b="1"/>
              <a:t>Action:</a:t>
            </a:r>
            <a:r>
              <a:rPr lang="en-US" sz="1800"/>
              <a:t> Concurrent upload of 50 files via local script (ThreadPoolExecutor).</a:t>
            </a:r>
          </a:p>
          <a:p>
            <a:r>
              <a:rPr lang="en-US" sz="1800" b="1"/>
              <a:t>Result:</a:t>
            </a:r>
            <a:r>
              <a:rPr lang="en-US" sz="1800"/>
              <a:t> Instant scaling and database population.</a:t>
            </a:r>
          </a:p>
          <a:p>
            <a:endParaRPr lang="it-IT" sz="180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32448B2-3728-9C57-8E69-FC0CCB130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95" y="2729397"/>
            <a:ext cx="5464885" cy="348386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DC41BD9-2309-5F21-9C07-ED9ADA575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81" y="3497886"/>
            <a:ext cx="5523082" cy="194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996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F7FB3F-2FAC-C47D-53D4-EC126FBD8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Conclusions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012770-0141-E024-2B55-0EA74E95A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Total Decoupling:</a:t>
            </a:r>
            <a:r>
              <a:rPr lang="en-US" dirty="0"/>
              <a:t> Storage, Compute, and Database scale completely independently.</a:t>
            </a:r>
          </a:p>
          <a:p>
            <a:r>
              <a:rPr lang="en-US" b="1" dirty="0"/>
              <a:t>Financial Optimization:</a:t>
            </a:r>
            <a:r>
              <a:rPr lang="en-US" dirty="0"/>
              <a:t> Expenses strictly limited to the actual milliseconds of execution (validating </a:t>
            </a:r>
            <a:r>
              <a:rPr lang="en-US" i="1" dirty="0" err="1"/>
              <a:t>Cloudonomics</a:t>
            </a:r>
            <a:r>
              <a:rPr lang="en-US" dirty="0"/>
              <a:t>).</a:t>
            </a:r>
          </a:p>
          <a:p>
            <a:r>
              <a:rPr lang="en-US" b="1" dirty="0"/>
              <a:t>Time-to-Market:</a:t>
            </a:r>
            <a:r>
              <a:rPr lang="en-US" dirty="0"/>
              <a:t> Focus shifted entirely to business logic, delegating High Availability (HA) to the Cloud Provider.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371096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265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Tema di Office</vt:lpstr>
      <vt:lpstr>A Cloud-Native Serverless Architecture Deployed on AWS</vt:lpstr>
      <vt:lpstr>Objectives &amp; Motivations</vt:lpstr>
      <vt:lpstr> Event-Driven Pipeline</vt:lpstr>
      <vt:lpstr>Security &amp; Least Privilege Principle</vt:lpstr>
      <vt:lpstr>Performance Monitoring</vt:lpstr>
      <vt:lpstr>Massive Load Simulation (Live Demo)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Calloni</dc:creator>
  <cp:lastModifiedBy>Matteo Calloni</cp:lastModifiedBy>
  <cp:revision>1</cp:revision>
  <dcterms:created xsi:type="dcterms:W3CDTF">2026-03-09T17:08:44Z</dcterms:created>
  <dcterms:modified xsi:type="dcterms:W3CDTF">2026-03-09T17:50:02Z</dcterms:modified>
</cp:coreProperties>
</file>
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FA38A1-299B-4F39-A112-5F9A007E49BE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C79E7F6-763D-4CF9-B997-F66B809877C5}">
      <dgm:prSet/>
      <dgm:spPr/>
      <dgm:t>
        <a:bodyPr/>
        <a:lstStyle/>
        <a:p>
          <a:r>
            <a:rPr lang="en-US"/>
            <a:t>True Decoupling Achieved: Storage, Compute, and Database scale independently.</a:t>
          </a:r>
        </a:p>
      </dgm:t>
    </dgm:pt>
    <dgm:pt modelId="{A30BEA42-0A8B-4DB9-8268-19658BC1EEC5}" type="parTrans" cxnId="{A715F30E-1E98-4B3F-81A3-8DF889912C0E}">
      <dgm:prSet/>
      <dgm:spPr/>
      <dgm:t>
        <a:bodyPr/>
        <a:lstStyle/>
        <a:p>
          <a:endParaRPr lang="en-US"/>
        </a:p>
      </dgm:t>
    </dgm:pt>
    <dgm:pt modelId="{B591B8E0-83E6-4B78-83ED-196955623F17}" type="sibTrans" cxnId="{A715F30E-1E98-4B3F-81A3-8DF889912C0E}">
      <dgm:prSet/>
      <dgm:spPr/>
      <dgm:t>
        <a:bodyPr/>
        <a:lstStyle/>
        <a:p>
          <a:endParaRPr lang="en-US"/>
        </a:p>
      </dgm:t>
    </dgm:pt>
    <dgm:pt modelId="{C301CBE1-BC8C-45F7-AAD9-05169C6EABFC}">
      <dgm:prSet/>
      <dgm:spPr/>
      <dgm:t>
        <a:bodyPr/>
        <a:lstStyle/>
        <a:p>
          <a:r>
            <a:rPr lang="en-US"/>
            <a:t>Enterprise Readiness: Moving beyond default settings proved necessary to achieve real fault tolerance (DLQ) and protect downstream systems (Concurrency Limits).</a:t>
          </a:r>
        </a:p>
      </dgm:t>
    </dgm:pt>
    <dgm:pt modelId="{395088FD-75C5-4744-8FEA-E4370A60E5B0}" type="parTrans" cxnId="{6CE1D72D-F3A5-4C23-A487-4AEEDDAC3225}">
      <dgm:prSet/>
      <dgm:spPr/>
      <dgm:t>
        <a:bodyPr/>
        <a:lstStyle/>
        <a:p>
          <a:endParaRPr lang="en-US"/>
        </a:p>
      </dgm:t>
    </dgm:pt>
    <dgm:pt modelId="{70DE05F5-4E22-4423-B662-0276794BDE3D}" type="sibTrans" cxnId="{6CE1D72D-F3A5-4C23-A487-4AEEDDAC3225}">
      <dgm:prSet/>
      <dgm:spPr/>
      <dgm:t>
        <a:bodyPr/>
        <a:lstStyle/>
        <a:p>
          <a:endParaRPr lang="en-US"/>
        </a:p>
      </dgm:t>
    </dgm:pt>
    <dgm:pt modelId="{0C0847BB-2FB7-4841-B755-844D09653CAD}">
      <dgm:prSet/>
      <dgm:spPr/>
      <dgm:t>
        <a:bodyPr/>
        <a:lstStyle/>
        <a:p>
          <a:r>
            <a:rPr lang="en-US"/>
            <a:t>Cloudonomics Validated: Costs remain strictly optimized without needing permanently provisioned servers</a:t>
          </a:r>
        </a:p>
      </dgm:t>
    </dgm:pt>
    <dgm:pt modelId="{7E9BD6B1-E202-4297-8CA4-34F79B2CA708}" type="parTrans" cxnId="{EB232CB7-4160-4400-AA2B-514C33736CAA}">
      <dgm:prSet/>
      <dgm:spPr/>
      <dgm:t>
        <a:bodyPr/>
        <a:lstStyle/>
        <a:p>
          <a:endParaRPr lang="en-US"/>
        </a:p>
      </dgm:t>
    </dgm:pt>
    <dgm:pt modelId="{6EDBB170-C0C2-45A1-8631-AA4A8016F52A}" type="sibTrans" cxnId="{EB232CB7-4160-4400-AA2B-514C33736CAA}">
      <dgm:prSet/>
      <dgm:spPr/>
      <dgm:t>
        <a:bodyPr/>
        <a:lstStyle/>
        <a:p>
          <a:endParaRPr lang="en-US"/>
        </a:p>
      </dgm:t>
    </dgm:pt>
    <dgm:pt modelId="{E63FF6B1-4555-449D-917D-1B40F7373083}" type="pres">
      <dgm:prSet presAssocID="{3FFA38A1-299B-4F39-A112-5F9A007E49BE}" presName="vert0" presStyleCnt="0">
        <dgm:presLayoutVars>
          <dgm:dir/>
          <dgm:animOne val="branch"/>
          <dgm:animLvl val="lvl"/>
        </dgm:presLayoutVars>
      </dgm:prSet>
      <dgm:spPr/>
    </dgm:pt>
    <dgm:pt modelId="{F513487F-5ADB-4BCC-9024-39619B553B1F}" type="pres">
      <dgm:prSet presAssocID="{0C79E7F6-763D-4CF9-B997-F66B809877C5}" presName="thickLine" presStyleLbl="alignNode1" presStyleIdx="0" presStyleCnt="3"/>
      <dgm:spPr/>
    </dgm:pt>
    <dgm:pt modelId="{B0231BE2-950F-4888-8580-49265FC9638D}" type="pres">
      <dgm:prSet presAssocID="{0C79E7F6-763D-4CF9-B997-F66B809877C5}" presName="horz1" presStyleCnt="0"/>
      <dgm:spPr/>
    </dgm:pt>
    <dgm:pt modelId="{943F37F6-1C64-4BDB-B9FB-4E76A59A394F}" type="pres">
      <dgm:prSet presAssocID="{0C79E7F6-763D-4CF9-B997-F66B809877C5}" presName="tx1" presStyleLbl="revTx" presStyleIdx="0" presStyleCnt="3"/>
      <dgm:spPr/>
    </dgm:pt>
    <dgm:pt modelId="{BD7591D0-896B-447A-A29A-62F40CBA8EE4}" type="pres">
      <dgm:prSet presAssocID="{0C79E7F6-763D-4CF9-B997-F66B809877C5}" presName="vert1" presStyleCnt="0"/>
      <dgm:spPr/>
    </dgm:pt>
    <dgm:pt modelId="{63713653-C060-455A-BFCE-F0E43F3E039C}" type="pres">
      <dgm:prSet presAssocID="{C301CBE1-BC8C-45F7-AAD9-05169C6EABFC}" presName="thickLine" presStyleLbl="alignNode1" presStyleIdx="1" presStyleCnt="3"/>
      <dgm:spPr/>
    </dgm:pt>
    <dgm:pt modelId="{5E2A93C0-1E6F-46EF-86C2-54E174C8CE51}" type="pres">
      <dgm:prSet presAssocID="{C301CBE1-BC8C-45F7-AAD9-05169C6EABFC}" presName="horz1" presStyleCnt="0"/>
      <dgm:spPr/>
    </dgm:pt>
    <dgm:pt modelId="{10DECFA8-A28A-469D-A1BC-723B9B03794B}" type="pres">
      <dgm:prSet presAssocID="{C301CBE1-BC8C-45F7-AAD9-05169C6EABFC}" presName="tx1" presStyleLbl="revTx" presStyleIdx="1" presStyleCnt="3"/>
      <dgm:spPr/>
    </dgm:pt>
    <dgm:pt modelId="{93DD58F4-5235-4FF8-87D2-9A5A07BA5ECB}" type="pres">
      <dgm:prSet presAssocID="{C301CBE1-BC8C-45F7-AAD9-05169C6EABFC}" presName="vert1" presStyleCnt="0"/>
      <dgm:spPr/>
    </dgm:pt>
    <dgm:pt modelId="{2551C418-83CF-4CCB-9449-3518D77EB8FE}" type="pres">
      <dgm:prSet presAssocID="{0C0847BB-2FB7-4841-B755-844D09653CAD}" presName="thickLine" presStyleLbl="alignNode1" presStyleIdx="2" presStyleCnt="3"/>
      <dgm:spPr/>
    </dgm:pt>
    <dgm:pt modelId="{CB41C02C-8490-44F0-B3D5-4420A0095282}" type="pres">
      <dgm:prSet presAssocID="{0C0847BB-2FB7-4841-B755-844D09653CAD}" presName="horz1" presStyleCnt="0"/>
      <dgm:spPr/>
    </dgm:pt>
    <dgm:pt modelId="{6102B4D1-3FB4-4EE2-AD79-1A16501C906F}" type="pres">
      <dgm:prSet presAssocID="{0C0847BB-2FB7-4841-B755-844D09653CAD}" presName="tx1" presStyleLbl="revTx" presStyleIdx="2" presStyleCnt="3"/>
      <dgm:spPr/>
    </dgm:pt>
    <dgm:pt modelId="{718EA66F-61B5-4257-84A3-30BE8CDE26BB}" type="pres">
      <dgm:prSet presAssocID="{0C0847BB-2FB7-4841-B755-844D09653CAD}" presName="vert1" presStyleCnt="0"/>
      <dgm:spPr/>
    </dgm:pt>
  </dgm:ptLst>
  <dgm:cxnLst>
    <dgm:cxn modelId="{A715F30E-1E98-4B3F-81A3-8DF889912C0E}" srcId="{3FFA38A1-299B-4F39-A112-5F9A007E49BE}" destId="{0C79E7F6-763D-4CF9-B997-F66B809877C5}" srcOrd="0" destOrd="0" parTransId="{A30BEA42-0A8B-4DB9-8268-19658BC1EEC5}" sibTransId="{B591B8E0-83E6-4B78-83ED-196955623F17}"/>
    <dgm:cxn modelId="{BCDC5329-48F5-49FD-A4C5-F40BE7821510}" type="presOf" srcId="{3FFA38A1-299B-4F39-A112-5F9A007E49BE}" destId="{E63FF6B1-4555-449D-917D-1B40F7373083}" srcOrd="0" destOrd="0" presId="urn:microsoft.com/office/officeart/2008/layout/LinedList"/>
    <dgm:cxn modelId="{6CE1D72D-F3A5-4C23-A487-4AEEDDAC3225}" srcId="{3FFA38A1-299B-4F39-A112-5F9A007E49BE}" destId="{C301CBE1-BC8C-45F7-AAD9-05169C6EABFC}" srcOrd="1" destOrd="0" parTransId="{395088FD-75C5-4744-8FEA-E4370A60E5B0}" sibTransId="{70DE05F5-4E22-4423-B662-0276794BDE3D}"/>
    <dgm:cxn modelId="{7CFB753C-3082-4A2A-B35E-C1F07EEF13C6}" type="presOf" srcId="{0C0847BB-2FB7-4841-B755-844D09653CAD}" destId="{6102B4D1-3FB4-4EE2-AD79-1A16501C906F}" srcOrd="0" destOrd="0" presId="urn:microsoft.com/office/officeart/2008/layout/LinedList"/>
    <dgm:cxn modelId="{CBFF9C73-0EBA-48E4-A3FC-CACA50A6E48F}" type="presOf" srcId="{0C79E7F6-763D-4CF9-B997-F66B809877C5}" destId="{943F37F6-1C64-4BDB-B9FB-4E76A59A394F}" srcOrd="0" destOrd="0" presId="urn:microsoft.com/office/officeart/2008/layout/LinedList"/>
    <dgm:cxn modelId="{EB232CB7-4160-4400-AA2B-514C33736CAA}" srcId="{3FFA38A1-299B-4F39-A112-5F9A007E49BE}" destId="{0C0847BB-2FB7-4841-B755-844D09653CAD}" srcOrd="2" destOrd="0" parTransId="{7E9BD6B1-E202-4297-8CA4-34F79B2CA708}" sibTransId="{6EDBB170-C0C2-45A1-8631-AA4A8016F52A}"/>
    <dgm:cxn modelId="{EF02D5DF-DC16-4AB7-A320-019162AFACCF}" type="presOf" srcId="{C301CBE1-BC8C-45F7-AAD9-05169C6EABFC}" destId="{10DECFA8-A28A-469D-A1BC-723B9B03794B}" srcOrd="0" destOrd="0" presId="urn:microsoft.com/office/officeart/2008/layout/LinedList"/>
    <dgm:cxn modelId="{7CF03EE0-995B-4AEB-9B2A-6317355F2971}" type="presParOf" srcId="{E63FF6B1-4555-449D-917D-1B40F7373083}" destId="{F513487F-5ADB-4BCC-9024-39619B553B1F}" srcOrd="0" destOrd="0" presId="urn:microsoft.com/office/officeart/2008/layout/LinedList"/>
    <dgm:cxn modelId="{35EF7FCB-659D-4AB0-B54D-4CAC609E6F36}" type="presParOf" srcId="{E63FF6B1-4555-449D-917D-1B40F7373083}" destId="{B0231BE2-950F-4888-8580-49265FC9638D}" srcOrd="1" destOrd="0" presId="urn:microsoft.com/office/officeart/2008/layout/LinedList"/>
    <dgm:cxn modelId="{AB9EF638-C48E-427C-A856-DC85B7C46DF1}" type="presParOf" srcId="{B0231BE2-950F-4888-8580-49265FC9638D}" destId="{943F37F6-1C64-4BDB-B9FB-4E76A59A394F}" srcOrd="0" destOrd="0" presId="urn:microsoft.com/office/officeart/2008/layout/LinedList"/>
    <dgm:cxn modelId="{DBA672F9-020E-4C85-8A4C-2A7EE1ED31C7}" type="presParOf" srcId="{B0231BE2-950F-4888-8580-49265FC9638D}" destId="{BD7591D0-896B-447A-A29A-62F40CBA8EE4}" srcOrd="1" destOrd="0" presId="urn:microsoft.com/office/officeart/2008/layout/LinedList"/>
    <dgm:cxn modelId="{0243D099-C676-44ED-A807-202E8B340254}" type="presParOf" srcId="{E63FF6B1-4555-449D-917D-1B40F7373083}" destId="{63713653-C060-455A-BFCE-F0E43F3E039C}" srcOrd="2" destOrd="0" presId="urn:microsoft.com/office/officeart/2008/layout/LinedList"/>
    <dgm:cxn modelId="{58C71287-5A18-4C94-A29B-A8C7E8C16080}" type="presParOf" srcId="{E63FF6B1-4555-449D-917D-1B40F7373083}" destId="{5E2A93C0-1E6F-46EF-86C2-54E174C8CE51}" srcOrd="3" destOrd="0" presId="urn:microsoft.com/office/officeart/2008/layout/LinedList"/>
    <dgm:cxn modelId="{DD8F07A8-C039-4131-A088-A1D4D8DCFAA5}" type="presParOf" srcId="{5E2A93C0-1E6F-46EF-86C2-54E174C8CE51}" destId="{10DECFA8-A28A-469D-A1BC-723B9B03794B}" srcOrd="0" destOrd="0" presId="urn:microsoft.com/office/officeart/2008/layout/LinedList"/>
    <dgm:cxn modelId="{536E35E0-8830-44CB-9C5D-372A55A92E8D}" type="presParOf" srcId="{5E2A93C0-1E6F-46EF-86C2-54E174C8CE51}" destId="{93DD58F4-5235-4FF8-87D2-9A5A07BA5ECB}" srcOrd="1" destOrd="0" presId="urn:microsoft.com/office/officeart/2008/layout/LinedList"/>
    <dgm:cxn modelId="{6A813341-AEEF-48A2-B341-448A94ADE7A0}" type="presParOf" srcId="{E63FF6B1-4555-449D-917D-1B40F7373083}" destId="{2551C418-83CF-4CCB-9449-3518D77EB8FE}" srcOrd="4" destOrd="0" presId="urn:microsoft.com/office/officeart/2008/layout/LinedList"/>
    <dgm:cxn modelId="{00DC6A18-97A2-4D58-9EBF-317C54D00B3E}" type="presParOf" srcId="{E63FF6B1-4555-449D-917D-1B40F7373083}" destId="{CB41C02C-8490-44F0-B3D5-4420A0095282}" srcOrd="5" destOrd="0" presId="urn:microsoft.com/office/officeart/2008/layout/LinedList"/>
    <dgm:cxn modelId="{1698D53A-C07F-457D-B3A5-293A7D810B09}" type="presParOf" srcId="{CB41C02C-8490-44F0-B3D5-4420A0095282}" destId="{6102B4D1-3FB4-4EE2-AD79-1A16501C906F}" srcOrd="0" destOrd="0" presId="urn:microsoft.com/office/officeart/2008/layout/LinedList"/>
    <dgm:cxn modelId="{18A4B5F8-596E-46D7-8F1D-38F8F71C1788}" type="presParOf" srcId="{CB41C02C-8490-44F0-B3D5-4420A0095282}" destId="{718EA66F-61B5-4257-84A3-30BE8CDE26B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13487F-5ADB-4BCC-9024-39619B553B1F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3F37F6-1C64-4BDB-B9FB-4E76A59A394F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True Decoupling Achieved: Storage, Compute, and Database scale independently.</a:t>
          </a:r>
        </a:p>
      </dsp:txBody>
      <dsp:txXfrm>
        <a:off x="0" y="2703"/>
        <a:ext cx="6900512" cy="1843578"/>
      </dsp:txXfrm>
    </dsp:sp>
    <dsp:sp modelId="{63713653-C060-455A-BFCE-F0E43F3E039C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DECFA8-A28A-469D-A1BC-723B9B03794B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Enterprise Readiness: Moving beyond default settings proved necessary to achieve real fault tolerance (DLQ) and protect downstream systems (Concurrency Limits).</a:t>
          </a:r>
        </a:p>
      </dsp:txBody>
      <dsp:txXfrm>
        <a:off x="0" y="1846281"/>
        <a:ext cx="6900512" cy="1843578"/>
      </dsp:txXfrm>
    </dsp:sp>
    <dsp:sp modelId="{2551C418-83CF-4CCB-9449-3518D77EB8FE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02B4D1-3FB4-4EE2-AD79-1A16501C906F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Cloudonomics Validated: Costs remain strictly optimized without needing permanently provisioned servers</a:t>
          </a:r>
        </a:p>
      </dsp:txBody>
      <dsp:txXfrm>
        <a:off x="0" y="3689859"/>
        <a:ext cx="6900512" cy="184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CF5BCF-A7F5-57A8-B827-FA62CDB68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FC0EB5E-F032-602B-EA82-1F3790B76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D900863-6CD6-07BC-5C39-AD8DA7659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255D-DB60-442F-A02D-6A33ED8BD556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CE67129-CB98-51F3-23EE-EB3A15A3A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33DF3A-BF78-6BE1-69F8-AC56BBFD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099-9F16-4562-8EB9-7517EA874A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219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F09EE2-9E43-CEF2-7A62-D8BEDDFE3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6126EB-8212-6A93-1EAF-7B314403E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B3EE674-C78C-775A-FEEF-8C6458DDD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255D-DB60-442F-A02D-6A33ED8BD556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4C0C41B-B510-0C83-19F7-96E34883F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D7BB7A-A1A2-BE46-7534-3B4ECD51C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099-9F16-4562-8EB9-7517EA874A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8496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6FB070-E7D2-A63C-C726-73A8416EE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BE5BCBC-C638-50D8-3870-4D6A80A79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1FE937-156E-3ADF-A61B-AC5F7ED72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255D-DB60-442F-A02D-6A33ED8BD556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FC5F36-6A76-0FE4-3DBB-3CAF5CAFC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ABFA04B-60AB-E2AE-4956-4B150BBA5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099-9F16-4562-8EB9-7517EA874A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6222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BC92FF-AA2C-914A-9C12-AFE18CA2E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9FFD5F2-4303-BF3A-F3D9-EF85DCEFFC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6404AD5-3027-0996-FFF9-9F45B5C44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BCBA77F-AAB1-82EE-4F32-9B1794494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255D-DB60-442F-A02D-6A33ED8BD556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52020A5-A16D-0A5C-4C59-417708498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ADCD902-6F73-7515-0C8E-CE0C4439A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099-9F16-4562-8EB9-7517EA874A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8004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AAC655-2137-10CE-B73F-7105C8DC4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257405-41C4-018E-901D-142665B7D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1AC8642-3ADC-2A97-8504-F5A1DCD90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804231B-E6EA-9CC5-6F69-37258887BC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8203F1F-8880-03FD-6417-646ED0F61A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316F308-49E2-A8FA-BFC3-91E9886A7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255D-DB60-442F-A02D-6A33ED8BD556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0E5956C-0F92-33F9-9102-26CB845A5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E66BB1A-1AA5-C477-6A72-2B7C2790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099-9F16-4562-8EB9-7517EA874A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2103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9B4582-688D-5BD9-E7DB-AA49FD730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641092C-841C-CC89-7209-D5911F859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255D-DB60-442F-A02D-6A33ED8BD556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587FB88-0F1B-E9F3-15DC-DBDC51F84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8CC61D5-FD16-E152-D03C-BD5149481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099-9F16-4562-8EB9-7517EA874A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8578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744A72E-CAFE-9E79-4DDB-5488D3288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255D-DB60-442F-A02D-6A33ED8BD556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D173E61-79DF-B0AF-4F3A-6B09DC371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784FA2-64EA-0736-7561-5847FE5ED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099-9F16-4562-8EB9-7517EA874A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6886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8D6896-4ACA-829C-499C-B2C804F2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F03FC8-FF04-B60E-92D7-BC866FA7C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E016FBF-75B8-D457-A7B5-7B8D78313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7A463C9-A27E-4D10-E72C-CF6CFB8B2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255D-DB60-442F-A02D-6A33ED8BD556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706AFF1-0693-A947-646A-AA7BFCCA5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51FDA64-84D9-53EE-ED8D-D208E2C70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099-9F16-4562-8EB9-7517EA874A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9533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41DC87-C716-CC13-2316-2EC101A5B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E00CF41-D3EF-8E38-C9D6-0CA583F203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B4A6EEC-52AB-420B-C8B6-B231C3A7B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4021AC8-9B31-0360-4FCC-5174A6BAB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255D-DB60-442F-A02D-6A33ED8BD556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1A73018-273D-F5E3-C8DB-D6B485B9C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34186A7-6146-7AEC-8470-A5CCC7A28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099-9F16-4562-8EB9-7517EA874A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9643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E926E2-C196-5E6A-FCBA-76FA5F50B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A49DA23-0148-185D-B1EA-B4F351FE5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BB0513-4044-2253-C4B2-1191F1E79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255D-DB60-442F-A02D-6A33ED8BD556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76169C5-D4E9-6CD7-5896-EAFBDBDB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110A50D-FFF5-C861-7227-B8C3D61D0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099-9F16-4562-8EB9-7517EA874A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7066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0FF4491-F458-6C40-108B-052F3635D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582CC10-F060-A1C5-110D-0A3B9FEB8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DF69AE-AF1C-833A-0219-0D3C03D53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255D-DB60-442F-A02D-6A33ED8BD556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0C8964D-54CD-8E02-038C-0433D6A12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C04F1E-418F-3CB5-96FF-036EB5CB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099-9F16-4562-8EB9-7517EA874A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690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831BED5-2379-84D2-C993-1CF1A8C2A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6C2A4CE-0D0D-E5AE-AABD-612105675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DFF4DF-F442-F2DD-CD7C-D0D0C6965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90255D-DB60-442F-A02D-6A33ED8BD556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313A36-AD52-290E-F6DD-FCFB35907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A704ED4-A98D-19F5-C61B-F28317584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AA7099-9F16-4562-8EB9-7517EA874A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310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5A1319-D8B2-1BF2-49DF-5DD67E2421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An Enterprise-Grade Serverless Architecture Deployed on AWS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DFD4CCA-9CF1-53D0-F69E-3FD181A1B6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Advanced Decoupling, Fault Tolerance, and Controlled Elasticity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6603756-6846-E741-280A-87E4439E106F}"/>
              </a:ext>
            </a:extLst>
          </p:cNvPr>
          <p:cNvSpPr txBox="1"/>
          <p:nvPr/>
        </p:nvSpPr>
        <p:spPr>
          <a:xfrm>
            <a:off x="1524000" y="5257800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Cloud Computing Technologies - Final Project | Calloni Matteo</a:t>
            </a:r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12E0DCF-4F71-2083-6CB2-70BA90C29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760" y="99743"/>
            <a:ext cx="2045240" cy="204524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632A5670-B305-6890-04BF-8B67A9714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2911" y="4630391"/>
            <a:ext cx="3168582" cy="190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50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CD06B64-7310-7012-8227-C1D46B134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it-IT" sz="3400"/>
              <a:t>Objectives &amp; Addressing Previous Feedback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A49C13-456E-5EA1-5244-D0E0B8B8E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1700"/>
              <a:t>Controlled Scaling: Moving from AWS default unbounded scaling to explicit architectural limits to protect downstream databases.</a:t>
            </a:r>
          </a:p>
          <a:p>
            <a:r>
              <a:rPr lang="en-US" sz="1700"/>
              <a:t>Application-Level Resilience: Implementing explicit Fault Tolerance mechanisms (DLQ) to handle corrupted data.</a:t>
            </a:r>
          </a:p>
          <a:p>
            <a:r>
              <a:rPr lang="en-US" sz="1700"/>
              <a:t>Enhanced Compute Logic: Implementing real business logic in Lambda instead of simple metadata extraction.</a:t>
            </a:r>
          </a:p>
          <a:p>
            <a:r>
              <a:rPr lang="en-US" sz="1700"/>
              <a:t>Strict Security: Demonstrating Least Privilege application through custom IAM policies rather than managed ones.</a:t>
            </a:r>
            <a:endParaRPr lang="it-IT" sz="1700"/>
          </a:p>
        </p:txBody>
      </p:sp>
      <p:pic>
        <p:nvPicPr>
          <p:cNvPr id="5" name="Elemento grafico 4" descr="Ingranaggi contorno">
            <a:extLst>
              <a:ext uri="{FF2B5EF4-FFF2-40B4-BE49-F238E27FC236}">
                <a16:creationId xmlns:a16="http://schemas.microsoft.com/office/drawing/2014/main" id="{DD80E37F-481A-4EAC-F18A-EBD732B9D9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689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D7EEC92-FE42-6130-6435-1A82059DB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400"/>
              <a:t>The Problem: Direct Integration vs. Decoupling</a:t>
            </a:r>
            <a:endParaRPr lang="it-IT" sz="3400"/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785B9F-500F-1756-C7FE-7C99F8141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it-IT" sz="1700"/>
              <a:t>Initial Approach: S3 directly triggering Lambda.</a:t>
            </a:r>
          </a:p>
          <a:p>
            <a:r>
              <a:rPr lang="it-IT" sz="1700"/>
              <a:t>The Problem: Sudden traffic spikes cause Lambda to scale uncontrollably (up to 1,000 instances), risking "Throttling Exceptions" on DynamoDB.</a:t>
            </a:r>
          </a:p>
          <a:p>
            <a:r>
              <a:rPr lang="it-IT" sz="1700"/>
              <a:t>The Solution: Introducing the Queue-Based Load Leveling pattern using Amazon SQS as a shock absorber.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A46E976-9CB4-8830-F165-6AE532079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3" r="5326" b="4255"/>
          <a:stretch>
            <a:fillRect/>
          </a:stretch>
        </p:blipFill>
        <p:spPr>
          <a:xfrm>
            <a:off x="4654296" y="1547736"/>
            <a:ext cx="6903720" cy="376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708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A4810B1-8090-6818-C747-F78583496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it-IT" sz="3000"/>
              <a:t>The Advanced Decoupled Architecture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D26AD3-5341-E7D7-32EF-46A9D98AD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it-IT" sz="1500"/>
              <a:t>Ingestion: Amazon S3 sends Event Notifications to a central SQS Queue.</a:t>
            </a:r>
          </a:p>
          <a:p>
            <a:r>
              <a:rPr lang="it-IT" sz="1500"/>
              <a:t>Buffer: SQS holds messages, fully decoupling storage from compute.</a:t>
            </a:r>
          </a:p>
          <a:p>
            <a:r>
              <a:rPr lang="it-IT" sz="1500"/>
              <a:t>Compute: AWS Lambda pulls messages asynchronously.</a:t>
            </a:r>
          </a:p>
          <a:p>
            <a:r>
              <a:rPr lang="it-IT" sz="1500"/>
              <a:t>Persistence: DynamoDB securely stores enriched telemetry data.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D08D356-1F86-8B5B-3599-91A1D8024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3520004"/>
            <a:ext cx="10917936" cy="150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411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3CC856C-5D5B-721D-ED4D-33E170F83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it-IT" sz="3800"/>
              <a:t> Stateless Compute &amp; Business Logic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D9EF1C5-32BF-F9EF-8FE9-54C16D042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/>
              <a:t>Lambda dynamically evaluates the payload.</a:t>
            </a:r>
          </a:p>
          <a:p>
            <a:r>
              <a:rPr lang="en-US" sz="2000"/>
              <a:t>Downloads the actual JSON file from S3 via boto3.</a:t>
            </a:r>
          </a:p>
          <a:p>
            <a:r>
              <a:rPr lang="en-US" sz="2000"/>
              <a:t>Evaluates the temperature parameter against predefined thresholds.</a:t>
            </a:r>
          </a:p>
          <a:p>
            <a:r>
              <a:rPr lang="en-US" sz="2000"/>
              <a:t>Classifies data into NORMAL, WARNING, or CRITICAL_ALARM.</a:t>
            </a:r>
            <a:endParaRPr lang="it-IT" sz="200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9439FBD-5682-D6F0-7E0A-366E9D460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779697"/>
            <a:ext cx="6903720" cy="529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62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F8CD278-5055-955B-E75C-C4F0B981B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Security &amp; The Least Privilege Principle</a:t>
            </a:r>
            <a:endParaRPr lang="it-IT" sz="380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88D4E1-F8FE-7948-6767-1A38B7387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1500"/>
              <a:t>Abandoning AWS Managed Policies for strict, custom inline JSON rules.</a:t>
            </a:r>
          </a:p>
          <a:p>
            <a:r>
              <a:rPr lang="en-US" sz="1500"/>
              <a:t>Lambda Execution Role: Explicitly restricted using specific Resource ARNs.</a:t>
            </a:r>
          </a:p>
          <a:p>
            <a:r>
              <a:rPr lang="en-US" sz="1500"/>
              <a:t>Only allowed to ReceiveMessage from IoT-Main-Queue.</a:t>
            </a:r>
          </a:p>
          <a:p>
            <a:r>
              <a:rPr lang="en-US" sz="1500"/>
              <a:t>Only allowed to GetObject from the specific testing bucket.</a:t>
            </a:r>
          </a:p>
          <a:p>
            <a:r>
              <a:rPr lang="en-US" sz="1500"/>
              <a:t>Only allowed to PutItem to the IoT_Telemetry table.</a:t>
            </a:r>
            <a:endParaRPr lang="it-IT" sz="150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3C1758A-BB46-9F0E-3733-457BE2939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262957"/>
            <a:ext cx="6903720" cy="433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18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B9C7D7B-8566-8338-0103-BF2F8E8BC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Massive Load Simulation (Stress Test)</a:t>
            </a:r>
            <a:endParaRPr lang="it-IT" sz="380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8897D3-1A2D-C5D9-4B02-D4E45084F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it-IT" sz="2000"/>
              <a:t>Initial State: System at rest (Clean S3, empty queues, empty DB).</a:t>
            </a:r>
          </a:p>
          <a:p>
            <a:r>
              <a:rPr lang="it-IT" sz="2000"/>
              <a:t>Action: A local Python script injects a massive sudden load.</a:t>
            </a:r>
          </a:p>
          <a:p>
            <a:r>
              <a:rPr lang="it-IT" sz="2000"/>
              <a:t>Payload: 300 valid JSON files and 10 intentionally corrupted files sent concurrently via ThreadPoolExecutor.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5506857-9C9E-A1D4-6BBD-DE691304C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668551"/>
            <a:ext cx="6903720" cy="352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569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27390ED-848A-0613-355D-A2075A398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it-IT" sz="3800"/>
              <a:t> Controlled Rapid Elasticity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05D098-94E2-068A-B239-95A34E842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1700"/>
              <a:t>Demonstrating true Cloud Governance by limiting default behaviors.</a:t>
            </a:r>
          </a:p>
          <a:p>
            <a:r>
              <a:rPr lang="en-US" sz="1700"/>
              <a:t>Configuration: The SQS-Lambda trigger is strictly limited to a Maximum Concurrency of 5 and a Batch Size of 1.</a:t>
            </a:r>
          </a:p>
          <a:p>
            <a:r>
              <a:rPr lang="en-US" sz="1700"/>
              <a:t>Result: Even with hundreds of simultaneous uploads, exactly 5 containers process the workload, absorbing the spike smoothly.</a:t>
            </a:r>
            <a:endParaRPr lang="it-IT" sz="170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7239573-DFE9-F84F-B03C-EE4309FE4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910182"/>
            <a:ext cx="6903720" cy="303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045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257BB3E-B7AD-3A7C-2C20-33536B60E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it-IT" dirty="0"/>
              <a:t>Fault </a:t>
            </a:r>
            <a:r>
              <a:rPr lang="it-IT"/>
              <a:t>Tolerance</a:t>
            </a:r>
            <a:r>
              <a:rPr lang="it-IT" dirty="0"/>
              <a:t> (DLQ) &amp; </a:t>
            </a:r>
            <a:r>
              <a:rPr lang="it-IT"/>
              <a:t>Persistence</a:t>
            </a:r>
            <a:endParaRPr lang="it-IT" dirty="0"/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2062BC-4DD9-86BB-52CC-95EEF4DF6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en-US" sz="1500"/>
              <a:t>Persistence: The 300 valid files were perfectly processed and classified in DynamoDB.</a:t>
            </a:r>
          </a:p>
          <a:p>
            <a:r>
              <a:rPr lang="en-US" sz="1500"/>
              <a:t>Fault Tolerance: Lambda crashed on the 10 corrupted files. After 2 retries, SQS automatically routed them to the IoT-DLQ.</a:t>
            </a:r>
          </a:p>
          <a:p>
            <a:r>
              <a:rPr lang="en-US" sz="1500"/>
              <a:t>Result: Zero data loss and prevention of total pipeline failure.</a:t>
            </a:r>
            <a:endParaRPr lang="it-IT" sz="150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A420503-B15E-4C16-CE65-EDF23C424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2761663"/>
            <a:ext cx="5468112" cy="329453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BB0A8E1-2F4D-E6ED-8711-56E68F5AD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2857355"/>
            <a:ext cx="5468112" cy="310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360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E8A2997-0998-533C-AC7F-C2418E8B9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it-IT" sz="5000"/>
              <a:t>Conclusions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ECD41448-6DFC-04F3-2AD8-02A6304DE3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118157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22909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514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di Office</vt:lpstr>
      <vt:lpstr> An Enterprise-Grade Serverless Architecture Deployed on AWS</vt:lpstr>
      <vt:lpstr>Objectives &amp; Addressing Previous Feedback</vt:lpstr>
      <vt:lpstr>The Problem: Direct Integration vs. Decoupling</vt:lpstr>
      <vt:lpstr>The Advanced Decoupled Architecture</vt:lpstr>
      <vt:lpstr> Stateless Compute &amp; Business Logic</vt:lpstr>
      <vt:lpstr>Security &amp; The Least Privilege Principle</vt:lpstr>
      <vt:lpstr>Massive Load Simulation (Stress Test)</vt:lpstr>
      <vt:lpstr> Controlled Rapid Elasticity</vt:lpstr>
      <vt:lpstr>Fault Tolerance (DLQ) &amp; Persistence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Calloni</dc:creator>
  <cp:lastModifiedBy>Matteo Calloni</cp:lastModifiedBy>
  <cp:revision>2</cp:revision>
  <dcterms:created xsi:type="dcterms:W3CDTF">2026-04-29T14:12:17Z</dcterms:created>
  <dcterms:modified xsi:type="dcterms:W3CDTF">2026-04-29T14:50:51Z</dcterms:modified>
</cp:coreProperties>
</file>